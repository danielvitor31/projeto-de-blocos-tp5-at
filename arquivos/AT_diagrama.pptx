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75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90804-6B2A-4BDB-8DC7-4E258DA48D68}" type="datetimeFigureOut">
              <a:t>05/12/2025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1DA1C-D2B1-42EB-AD74-E5031221B4A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51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A7387-11C0-FEF9-5B58-2F8F52A7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BD2032-61C8-33DE-34A4-6C8B138D4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A84C23-2515-966B-667D-7EB87D52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6DEBD1-EC12-E750-3BDC-AFDB655E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092901-9A58-54B3-81B5-1269BB0D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45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C1B32-44D3-C6B3-5C75-F87EAF96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05EA12-DEC6-E1BB-4C69-54BCF9D9E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13BF06-3293-7BAC-7F98-674FCDD4D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3166F3-6AAB-BB21-D69A-D42C7B0AC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23FC94-8CF0-D4DA-F0D6-E068FD9C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513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F54AC-6F9A-4102-827D-9AC96E9F8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B43AFE-31D4-C7CA-967F-47D1D0FD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6956DD-1916-BC00-E978-E6FF36FD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F5CAA-1E11-2031-1471-FA1D17518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F474DD-DE65-C723-28AE-D21CBBCF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78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ED145-A3FE-E732-4C49-50A7C625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2ADF5-AADF-D59B-5E69-081FC5D24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F1FD82-3060-5FBF-AA76-8BDADD15E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D16471-B712-12F4-6F6F-530F4D30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932414-1AD5-FB0D-9A9F-AD9E0749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64D260-3A87-5D81-F9EF-EAF3D6AC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646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863E1-07BA-9AB7-50DB-828606CA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80E2EE-22C7-1CAF-C95A-05B4FB08D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6E0FDE-2B2E-AAD6-4E91-4AB811420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DB1B9E-055C-83F3-A9BF-75C67F479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D74734-15F3-FC4A-90E8-B8720E478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25765F-C49D-5A1D-D021-4A47A522F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B7CB55-6453-3BFD-D22D-8EBE9F0B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43070A-FB2D-C26F-F11A-57CE1B7F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35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407F5-1D34-0F0F-EDE4-6021A321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143184B-31ED-7B35-73C1-1BE62F33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7F7E5B-6189-4059-2030-DCA0EF22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47A73B-1891-3CCD-81FA-E82065CF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262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758E7F0-A4A0-CBC4-FFB0-79EE71F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986B0CF-1494-6DD5-C70D-D342BEAC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2D1E35-AFC4-E899-91A5-D51E4E1E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7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88121-C929-9A1A-7CFD-E18BDEF3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A8A20C-2E09-4C5F-8660-3EBAEEDD1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AE188C-67F4-C1D8-97E7-45A8684F2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816B18-4965-2B15-E2F5-647D00BDA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0C10B4-3097-1D3B-3FD7-7BF5B694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806F48-B7F9-3DD5-878E-B3303516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680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7B57B-956A-36B4-2A44-3C0FE36C7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14AADC-91D6-D3D9-5423-E69B736E6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8F8CFD-9751-62B6-61AC-A48B04AF0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7FBE72-B20B-4482-83D5-20ED327C7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3B2656-5F24-E27C-DE59-8D30C0B50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36FAA7-E7DB-7112-6D35-598D3F0C2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20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A291-9FD6-77A1-FDF6-543D3BFF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369856-DD50-C4A7-8D57-75A4D687E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5328EE-D61F-8BD3-3B24-E62CCE1C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B53B22-45E0-A2EF-0A74-75B831647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343E3E-94D2-06E5-A6FD-0E891825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47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5E2397-22CA-D4EA-8697-9EB5B4EDE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0EB578-6B78-6F31-6D9B-3855619A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BA2760-3CBC-E12F-728D-C932854E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F712A8-D183-9675-D60C-48BFC66C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A8ADE4-EFED-E1AC-2CAB-34BBE889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01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429FC6-DDC9-B248-D352-48A930DD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B4AFAD-DC79-E23F-510C-60C2B4FE0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09C06C-4BFE-2C85-CD33-23871F328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D0F4C-F330-4B5F-A4EE-DC8F0643A0E5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41A6ED-405C-05F1-B201-D47091861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8621C4-1E1E-9894-01C6-1143DF9B5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7FA12-96BA-4CBA-B6D5-2FC3FF4334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68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6.jpe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aixaDeTexto 18">
            <a:extLst>
              <a:ext uri="{FF2B5EF4-FFF2-40B4-BE49-F238E27FC236}">
                <a16:creationId xmlns:a16="http://schemas.microsoft.com/office/drawing/2014/main" id="{95865E1A-B4B8-49D7-88D7-64541639F52F}"/>
              </a:ext>
            </a:extLst>
          </p:cNvPr>
          <p:cNvSpPr txBox="1"/>
          <p:nvPr/>
        </p:nvSpPr>
        <p:spPr>
          <a:xfrm>
            <a:off x="0" y="6271200"/>
            <a:ext cx="12192000" cy="586800"/>
          </a:xfrm>
          <a:prstGeom prst="rect">
            <a:avLst/>
          </a:prstGeom>
          <a:solidFill>
            <a:srgbClr val="282727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C72F2AC-1A0C-8166-FC7D-EA74D016BDA9}"/>
              </a:ext>
            </a:extLst>
          </p:cNvPr>
          <p:cNvSpPr/>
          <p:nvPr/>
        </p:nvSpPr>
        <p:spPr>
          <a:xfrm>
            <a:off x="3567971" y="2638783"/>
            <a:ext cx="3559744" cy="35851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1742B03-A795-6F70-5314-C1F111D41656}"/>
              </a:ext>
            </a:extLst>
          </p:cNvPr>
          <p:cNvSpPr/>
          <p:nvPr/>
        </p:nvSpPr>
        <p:spPr>
          <a:xfrm>
            <a:off x="3580713" y="922288"/>
            <a:ext cx="3547002" cy="1650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5A32D99-DAF6-D465-412C-0064C71B1DA9}"/>
              </a:ext>
            </a:extLst>
          </p:cNvPr>
          <p:cNvSpPr/>
          <p:nvPr/>
        </p:nvSpPr>
        <p:spPr>
          <a:xfrm>
            <a:off x="7235762" y="922288"/>
            <a:ext cx="2412387" cy="1780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A60B325-1875-C33F-121F-622A65F6CB64}"/>
              </a:ext>
            </a:extLst>
          </p:cNvPr>
          <p:cNvSpPr/>
          <p:nvPr/>
        </p:nvSpPr>
        <p:spPr>
          <a:xfrm>
            <a:off x="9703013" y="905472"/>
            <a:ext cx="2401200" cy="218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43F6EAD-A553-4691-ED58-3EAB5F1C4E8A}"/>
              </a:ext>
            </a:extLst>
          </p:cNvPr>
          <p:cNvSpPr/>
          <p:nvPr/>
        </p:nvSpPr>
        <p:spPr>
          <a:xfrm>
            <a:off x="82912" y="2638783"/>
            <a:ext cx="3395372" cy="14011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CA29AB1-DC34-F2BC-21FB-ECE2995010ED}"/>
              </a:ext>
            </a:extLst>
          </p:cNvPr>
          <p:cNvSpPr/>
          <p:nvPr/>
        </p:nvSpPr>
        <p:spPr>
          <a:xfrm>
            <a:off x="82912" y="4142375"/>
            <a:ext cx="3395372" cy="20815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15847CD-60BE-CE3F-169A-2265FCB8A86F}"/>
              </a:ext>
            </a:extLst>
          </p:cNvPr>
          <p:cNvSpPr/>
          <p:nvPr/>
        </p:nvSpPr>
        <p:spPr>
          <a:xfrm>
            <a:off x="7235762" y="2792321"/>
            <a:ext cx="2412387" cy="344077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72C7D50-C463-BAAB-4008-2C8030F535E5}"/>
              </a:ext>
            </a:extLst>
          </p:cNvPr>
          <p:cNvSpPr/>
          <p:nvPr/>
        </p:nvSpPr>
        <p:spPr>
          <a:xfrm>
            <a:off x="9729649" y="3168731"/>
            <a:ext cx="2400206" cy="30430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87A343C-F374-4471-0644-A08D9A95A51C}"/>
              </a:ext>
            </a:extLst>
          </p:cNvPr>
          <p:cNvSpPr txBox="1"/>
          <p:nvPr/>
        </p:nvSpPr>
        <p:spPr>
          <a:xfrm>
            <a:off x="378498" y="971987"/>
            <a:ext cx="90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Objetivo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9A86D13-B48E-4745-BEFF-C4AF4A6F9A7D}"/>
              </a:ext>
            </a:extLst>
          </p:cNvPr>
          <p:cNvSpPr txBox="1"/>
          <p:nvPr/>
        </p:nvSpPr>
        <p:spPr>
          <a:xfrm>
            <a:off x="3889320" y="962751"/>
            <a:ext cx="987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Produto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672F730-A4E6-1040-520C-CCCFC68344C6}"/>
              </a:ext>
            </a:extLst>
          </p:cNvPr>
          <p:cNvSpPr txBox="1"/>
          <p:nvPr/>
        </p:nvSpPr>
        <p:spPr>
          <a:xfrm>
            <a:off x="7532967" y="944276"/>
            <a:ext cx="1832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Partes Interessadas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6710C9A-E54B-30A0-D57A-F37AD91210B3}"/>
              </a:ext>
            </a:extLst>
          </p:cNvPr>
          <p:cNvSpPr txBox="1"/>
          <p:nvPr/>
        </p:nvSpPr>
        <p:spPr>
          <a:xfrm>
            <a:off x="10040037" y="925805"/>
            <a:ext cx="1832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Principais Envolvidos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F0C79F5-E75B-310C-01F6-691DBCABBA1A}"/>
              </a:ext>
            </a:extLst>
          </p:cNvPr>
          <p:cNvSpPr txBox="1"/>
          <p:nvPr/>
        </p:nvSpPr>
        <p:spPr>
          <a:xfrm>
            <a:off x="3946867" y="2664216"/>
            <a:ext cx="1015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Requisitos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6913974-1A49-5B1A-11F8-14DC5C3822FD}"/>
              </a:ext>
            </a:extLst>
          </p:cNvPr>
          <p:cNvSpPr txBox="1"/>
          <p:nvPr/>
        </p:nvSpPr>
        <p:spPr>
          <a:xfrm>
            <a:off x="426707" y="4154514"/>
            <a:ext cx="1072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Benefícios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6B00429-4CDD-E971-5F57-B314538F9FFE}"/>
              </a:ext>
            </a:extLst>
          </p:cNvPr>
          <p:cNvSpPr txBox="1"/>
          <p:nvPr/>
        </p:nvSpPr>
        <p:spPr>
          <a:xfrm>
            <a:off x="7558344" y="2857756"/>
            <a:ext cx="1832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Premissas / Restrições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EFDF424-3FEE-84F3-DE54-5B8863384878}"/>
              </a:ext>
            </a:extLst>
          </p:cNvPr>
          <p:cNvSpPr txBox="1"/>
          <p:nvPr/>
        </p:nvSpPr>
        <p:spPr>
          <a:xfrm>
            <a:off x="10092641" y="3197443"/>
            <a:ext cx="871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Riscos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473E65EC-AC0D-F200-BC90-68D8640D0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1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2" y="2646002"/>
            <a:ext cx="211518" cy="300852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2095031F-1711-7C52-5190-735A5A05C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2" y="978175"/>
            <a:ext cx="275984" cy="275984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6E859220-09C9-FF72-60AA-30682D7CE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522" b="95109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4" y="4133238"/>
            <a:ext cx="297054" cy="297054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1CAB6756-3E21-6B9D-239E-423C05CCC2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152" b="100000" l="0" r="100000">
                        <a14:foregroundMark x1="16000" y1="16705" x2="16000" y2="16705"/>
                        <a14:foregroundMark x1="12889" y1="78111" x2="12889" y2="78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94" y="968939"/>
            <a:ext cx="287211" cy="276999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7D062DF3-9856-5E42-BED2-825A7904C8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740" y="2825611"/>
            <a:ext cx="547915" cy="311703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B6225586-8EC3-9906-9967-640EF32513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920" y="3188107"/>
            <a:ext cx="288449" cy="28844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734443C-50EC-AC81-3D7F-A6DF3D1F88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32398" y="950464"/>
            <a:ext cx="334687" cy="33468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CD6B9E6-44CC-36BC-BE5E-817EAD7E66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53779" y="931993"/>
            <a:ext cx="334687" cy="33468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968021A-39F5-2A19-E90F-D5EF6F9ACC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94" y="2646002"/>
            <a:ext cx="312573" cy="312573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7903AF22-16AA-4B78-A279-D1CFD1FA1CB4}"/>
              </a:ext>
            </a:extLst>
          </p:cNvPr>
          <p:cNvSpPr txBox="1"/>
          <p:nvPr/>
        </p:nvSpPr>
        <p:spPr>
          <a:xfrm>
            <a:off x="3475865" y="6410712"/>
            <a:ext cx="5240270" cy="307777"/>
          </a:xfrm>
          <a:prstGeom prst="rect">
            <a:avLst/>
          </a:prstGeom>
          <a:noFill/>
          <a:ln w="3175"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400" b="1">
                <a:solidFill>
                  <a:srgbClr val="52B791"/>
                </a:solidFill>
                <a:latin typeface="Segoe UI"/>
                <a:cs typeface="Segoe UI"/>
              </a:rPr>
              <a:t>CANVAS DO PROJETO </a:t>
            </a:r>
            <a:endParaRPr lang="pt-BR" sz="1400" b="1">
              <a:solidFill>
                <a:srgbClr val="52B791"/>
              </a:solidFill>
              <a:latin typeface="Segoe UI"/>
              <a:ea typeface="Segoe UI Black" panose="020B0A02040204020203" pitchFamily="34" charset="0"/>
              <a:cs typeface="Segoe UI"/>
            </a:endParaRP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DBB0482-B606-4C22-A9BC-F132B144D642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/>
          </a:p>
        </p:txBody>
      </p:sp>
      <p:sp>
        <p:nvSpPr>
          <p:cNvPr id="51" name="CaixaDeTexto 1">
            <a:extLst>
              <a:ext uri="{FF2B5EF4-FFF2-40B4-BE49-F238E27FC236}">
                <a16:creationId xmlns:a16="http://schemas.microsoft.com/office/drawing/2014/main" id="{6DB009A3-7D7A-4A5B-9E63-820C22DD5F51}"/>
              </a:ext>
            </a:extLst>
          </p:cNvPr>
          <p:cNvSpPr txBox="1"/>
          <p:nvPr/>
        </p:nvSpPr>
        <p:spPr>
          <a:xfrm>
            <a:off x="-54864" y="6395323"/>
            <a:ext cx="2719059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PROJETO DE BLOCO</a:t>
            </a:r>
          </a:p>
        </p:txBody>
      </p:sp>
      <p:sp>
        <p:nvSpPr>
          <p:cNvPr id="53" name="CaixaDeTexto 3">
            <a:extLst>
              <a:ext uri="{FF2B5EF4-FFF2-40B4-BE49-F238E27FC236}">
                <a16:creationId xmlns:a16="http://schemas.microsoft.com/office/drawing/2014/main" id="{2155EB9D-59D0-4CBA-BDC4-CD3D7382C839}"/>
              </a:ext>
            </a:extLst>
          </p:cNvPr>
          <p:cNvSpPr txBox="1"/>
          <p:nvPr/>
        </p:nvSpPr>
        <p:spPr>
          <a:xfrm>
            <a:off x="10037559" y="6412907"/>
            <a:ext cx="1708648" cy="24622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INSTITUTO INFNET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254DBB-5090-0350-903D-A3F0C7121246}"/>
              </a:ext>
            </a:extLst>
          </p:cNvPr>
          <p:cNvSpPr txBox="1"/>
          <p:nvPr/>
        </p:nvSpPr>
        <p:spPr>
          <a:xfrm>
            <a:off x="9793604" y="3688594"/>
            <a:ext cx="22529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romanLcPeriod"/>
            </a:pPr>
            <a:r>
              <a:rPr lang="pt-BR" sz="1200" dirty="0"/>
              <a:t>Preços dos fornecedores mudarem rápido e ficarem desatualizados.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200" dirty="0"/>
              <a:t>Problemas legais com web </a:t>
            </a:r>
            <a:r>
              <a:rPr lang="pt-BR" sz="1200" dirty="0" err="1"/>
              <a:t>scraping</a:t>
            </a:r>
            <a:r>
              <a:rPr lang="pt-BR" sz="1200" dirty="0"/>
              <a:t>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200" dirty="0"/>
              <a:t>Falta de adesão de fornecedores.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200" dirty="0"/>
              <a:t>Erros humanos no processo de montagem..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629E34-CDEE-D8B6-D0D9-877CE01C65EE}"/>
              </a:ext>
            </a:extLst>
          </p:cNvPr>
          <p:cNvSpPr txBox="1"/>
          <p:nvPr/>
        </p:nvSpPr>
        <p:spPr>
          <a:xfrm>
            <a:off x="239234" y="1323914"/>
            <a:ext cx="3186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Criar um sistema para gerenciar uma loja de montagem de computadores que trabalha com transparência total, mostrando o preço real das peças e cobrando apenas pela montagem.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E89BB14-C23A-33E0-4860-547B11ED026C}"/>
              </a:ext>
            </a:extLst>
          </p:cNvPr>
          <p:cNvSpPr txBox="1"/>
          <p:nvPr/>
        </p:nvSpPr>
        <p:spPr>
          <a:xfrm>
            <a:off x="281034" y="2604570"/>
            <a:ext cx="318667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Justificativa</a:t>
            </a:r>
            <a:r>
              <a:rPr lang="pt-BR" sz="1000" dirty="0"/>
              <a:t>: A maioria das lojas lucra escondendo margem nas peças, o que gera desconfiança. O sistema propõe um modelo mais honesto: comparar preços de fornecedores, permitir ao cliente escolher onde comprar e focar o lucro apenas no serviço de montagem. Isso melhora a confiança e diferencia a loja no mercado.</a:t>
            </a:r>
            <a:endParaRPr lang="pt-BR" sz="1000" dirty="0">
              <a:highlight>
                <a:srgbClr val="FFFF00"/>
              </a:highligh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5840095-3D4A-3A25-F76A-19F5EFD6150C}"/>
              </a:ext>
            </a:extLst>
          </p:cNvPr>
          <p:cNvSpPr txBox="1"/>
          <p:nvPr/>
        </p:nvSpPr>
        <p:spPr>
          <a:xfrm>
            <a:off x="145455" y="4658090"/>
            <a:ext cx="32971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romanLcPeriod"/>
            </a:pPr>
            <a:r>
              <a:rPr lang="pt-BR" sz="1200" dirty="0"/>
              <a:t>Transparência total no custo das peças.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200" dirty="0"/>
              <a:t>Comparação automática entre fornecedores.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200" dirty="0"/>
              <a:t>Processo de montagem organizado por equipes.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200" dirty="0"/>
              <a:t>Facilidade para o cliente acompanhar o pedido.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200" dirty="0"/>
              <a:t>Redução de erros e retrabalho na montagem.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F167E0A-4E40-E68E-4637-937471D4C361}"/>
              </a:ext>
            </a:extLst>
          </p:cNvPr>
          <p:cNvSpPr txBox="1"/>
          <p:nvPr/>
        </p:nvSpPr>
        <p:spPr>
          <a:xfrm>
            <a:off x="7341607" y="1357171"/>
            <a:ext cx="21833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Clientes.</a:t>
            </a:r>
          </a:p>
          <a:p>
            <a:r>
              <a:rPr lang="pt-BR" sz="1200" dirty="0"/>
              <a:t>Loja de montagem.</a:t>
            </a:r>
          </a:p>
          <a:p>
            <a:r>
              <a:rPr lang="pt-BR" sz="1200" dirty="0"/>
              <a:t>Equipe técnica (montadores e assistentes).</a:t>
            </a:r>
          </a:p>
          <a:p>
            <a:r>
              <a:rPr lang="pt-BR" sz="1200" dirty="0"/>
              <a:t>Fornecedores parceiros.	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BAECE16-DC0D-81AA-690E-217E13114847}"/>
              </a:ext>
            </a:extLst>
          </p:cNvPr>
          <p:cNvSpPr txBox="1"/>
          <p:nvPr/>
        </p:nvSpPr>
        <p:spPr>
          <a:xfrm>
            <a:off x="3636261" y="2962602"/>
            <a:ext cx="340454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romanLcPeriod"/>
            </a:pPr>
            <a:r>
              <a:rPr lang="pt-BR" sz="1300" dirty="0"/>
              <a:t>Registrar clientes.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300" dirty="0"/>
              <a:t>Cadastrar peças e fornecedores.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300" dirty="0"/>
              <a:t>Criar pedidos de montagem com lista de peças.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300" dirty="0"/>
              <a:t>Comparar preços entre fornecedores e escolher o menor (ou preferido).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300" dirty="0"/>
              <a:t>Calcular automaticamente o custo total da montagem.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300" dirty="0"/>
              <a:t>Atribuir equipes e atualizar status do pedido.</a:t>
            </a:r>
          </a:p>
          <a:p>
            <a:pPr marL="285750" indent="-285750">
              <a:buFont typeface="+mj-lt"/>
              <a:buAutoNum type="romanLcPeriod"/>
            </a:pPr>
            <a:r>
              <a:rPr lang="pt-BR" sz="1300" dirty="0"/>
              <a:t>Exibir listas e detalhes em formato claro e organizado.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95F62F1-13B0-E99D-03A7-B2F70CF1025E}"/>
              </a:ext>
            </a:extLst>
          </p:cNvPr>
          <p:cNvSpPr txBox="1"/>
          <p:nvPr/>
        </p:nvSpPr>
        <p:spPr>
          <a:xfrm>
            <a:off x="3754505" y="1379262"/>
            <a:ext cx="3186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Um sistema simples que registra pedidos de montagem, organiza equipes responsáveis, compara preços de fornecedores e calcula automaticamente o valor final (peças + taxa de montagem).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116C6C-6A49-3C68-D040-90690CFAD43F}"/>
              </a:ext>
            </a:extLst>
          </p:cNvPr>
          <p:cNvSpPr txBox="1"/>
          <p:nvPr/>
        </p:nvSpPr>
        <p:spPr>
          <a:xfrm>
            <a:off x="9872226" y="1408387"/>
            <a:ext cx="2183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Proprietário da loja.</a:t>
            </a:r>
          </a:p>
          <a:p>
            <a:r>
              <a:rPr lang="pt-BR" sz="1200" dirty="0"/>
              <a:t>Desenvolvedores do sistema.</a:t>
            </a:r>
          </a:p>
          <a:p>
            <a:r>
              <a:rPr lang="pt-BR" sz="1200" dirty="0"/>
              <a:t>Equipe de montagem.</a:t>
            </a:r>
          </a:p>
          <a:p>
            <a:r>
              <a:rPr lang="pt-BR" sz="1200" dirty="0"/>
              <a:t>Representantes de fornecedores (quando houver parceria).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ACAC3E4-36FD-7F7E-6127-602ABF6A0914}"/>
              </a:ext>
            </a:extLst>
          </p:cNvPr>
          <p:cNvSpPr txBox="1"/>
          <p:nvPr/>
        </p:nvSpPr>
        <p:spPr>
          <a:xfrm>
            <a:off x="7306832" y="3220340"/>
            <a:ext cx="225294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+mj-lt"/>
              <a:buAutoNum type="romanLcPeriod"/>
            </a:pPr>
            <a:r>
              <a:rPr lang="pt-BR" sz="1300" dirty="0"/>
              <a:t>Preços dos fornecedores estão disponíveis de forma atualizável.</a:t>
            </a:r>
          </a:p>
          <a:p>
            <a:pPr marL="285750" indent="-285750" algn="just">
              <a:buFont typeface="+mj-lt"/>
              <a:buAutoNum type="romanLcPeriod"/>
            </a:pPr>
            <a:r>
              <a:rPr lang="pt-BR" sz="1300" dirty="0"/>
              <a:t>A loja cobrará lucro apenas pela montagem.</a:t>
            </a:r>
          </a:p>
          <a:p>
            <a:pPr marL="285750" indent="-285750" algn="just">
              <a:buFont typeface="+mj-lt"/>
              <a:buAutoNum type="romanLcPeriod"/>
            </a:pPr>
            <a:r>
              <a:rPr lang="pt-BR" sz="1300" dirty="0"/>
              <a:t>Sistema inicial simples, sem dependência de recursos avançados.</a:t>
            </a:r>
          </a:p>
          <a:p>
            <a:pPr marL="285750" indent="-285750" algn="just">
              <a:buFont typeface="+mj-lt"/>
              <a:buAutoNum type="romanLcPeriod"/>
            </a:pPr>
            <a:r>
              <a:rPr lang="pt-BR" sz="1300" dirty="0"/>
              <a:t>Web </a:t>
            </a:r>
            <a:r>
              <a:rPr lang="pt-BR" sz="1300" dirty="0" err="1"/>
              <a:t>scraping</a:t>
            </a:r>
            <a:r>
              <a:rPr lang="pt-BR" sz="1300" dirty="0"/>
              <a:t> pode ter limitações técnicas/legais.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E21800E-011A-8D81-6D7C-F2EDC7D848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07" y="-9863"/>
            <a:ext cx="12192000" cy="885825"/>
          </a:xfrm>
          <a:prstGeom prst="rect">
            <a:avLst/>
          </a:prstGeom>
        </p:spPr>
      </p:pic>
      <p:sp>
        <p:nvSpPr>
          <p:cNvPr id="18" name="CaixaDeTexto 1">
            <a:extLst>
              <a:ext uri="{FF2B5EF4-FFF2-40B4-BE49-F238E27FC236}">
                <a16:creationId xmlns:a16="http://schemas.microsoft.com/office/drawing/2014/main" id="{F2E9471A-9E38-BCF3-599A-9B55EF953130}"/>
              </a:ext>
            </a:extLst>
          </p:cNvPr>
          <p:cNvSpPr txBox="1"/>
          <p:nvPr/>
        </p:nvSpPr>
        <p:spPr>
          <a:xfrm>
            <a:off x="37738" y="230846"/>
            <a:ext cx="3673265" cy="369332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>
                <a:solidFill>
                  <a:schemeClr val="bg1"/>
                </a:solidFill>
              </a:rPr>
              <a:t>Montagem de PCs com Custos Reais</a:t>
            </a:r>
            <a:endParaRPr lang="pt-BR" dirty="0">
              <a:solidFill>
                <a:schemeClr val="bg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292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de0705-18c4-4359-8c96-ff8f797af167" xsi:nil="true"/>
    <lcf76f155ced4ddcb4097134ff3c332f xmlns="2694d582-452b-40d1-a17c-e65ca7828b52">
      <Terms xmlns="http://schemas.microsoft.com/office/infopath/2007/PartnerControls"/>
    </lcf76f155ced4ddcb4097134ff3c332f>
    <DatadaReuni_x00e3_o xmlns="2694d582-452b-40d1-a17c-e65ca7828b52">Nome</DatadaReuni_x00e3_o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E36FBBD8D65B40A3B975BCDE55E9E6" ma:contentTypeVersion="" ma:contentTypeDescription="Crie um novo documento." ma:contentTypeScope="" ma:versionID="728b2732fca817c0745b078802ddf7ce">
  <xsd:schema xmlns:xsd="http://www.w3.org/2001/XMLSchema" xmlns:xs="http://www.w3.org/2001/XMLSchema" xmlns:p="http://schemas.microsoft.com/office/2006/metadata/properties" xmlns:ns2="2694d582-452b-40d1-a17c-e65ca7828b52" xmlns:ns3="2ca3a775-6c72-4a59-9d11-14ffc23cbd29" xmlns:ns4="5fde0705-18c4-4359-8c96-ff8f797af167" targetNamespace="http://schemas.microsoft.com/office/2006/metadata/properties" ma:root="true" ma:fieldsID="86ab39dba39e377233bb14c597ae6a07" ns2:_="" ns3:_="" ns4:_="">
    <xsd:import namespace="2694d582-452b-40d1-a17c-e65ca7828b52"/>
    <xsd:import namespace="2ca3a775-6c72-4a59-9d11-14ffc23cbd29"/>
    <xsd:import namespace="5fde0705-18c4-4359-8c96-ff8f797af1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DatadaReuni_x00e3_o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4d582-452b-40d1-a17c-e65ca7828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atadaReuni_x00e3_o" ma:index="19" nillable="true" ma:displayName="Data da Reunião" ma:default="Nome" ma:description="Nome da pasta no formato AAAA.MM.DD" ma:format="Dropdown" ma:internalName="DatadaReuni_x00e3_o">
      <xsd:simpleType>
        <xsd:restriction base="dms:Text">
          <xsd:maxLength value="60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Marcações de imagem" ma:readOnly="false" ma:fieldId="{5cf76f15-5ced-4ddc-b409-7134ff3c332f}" ma:taxonomyMulti="true" ma:sspId="6a44b908-e74c-4083-bfe9-9f2e70bbc5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a3a775-6c72-4a59-9d11-14ffc23cbd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de0705-18c4-4359-8c96-ff8f797af167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E81DF701-D840-4568-93B2-AAAA2C0EAB4D}" ma:internalName="TaxCatchAll" ma:showField="CatchAllData" ma:web="{21cd5150-034b-4a01-8ded-e95cf929fde3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641734-D2EB-4EC7-8DC7-573E727B7F62}">
  <ds:schemaRefs>
    <ds:schemaRef ds:uri="2694d582-452b-40d1-a17c-e65ca7828b52"/>
    <ds:schemaRef ds:uri="5fde0705-18c4-4359-8c96-ff8f797af16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9F3F50-528D-487F-98DA-0CA3BBA6A0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90A155-7EDC-40C2-A878-EFD00ACC6829}">
  <ds:schemaRefs>
    <ds:schemaRef ds:uri="2694d582-452b-40d1-a17c-e65ca7828b52"/>
    <ds:schemaRef ds:uri="2ca3a775-6c72-4a59-9d11-14ffc23cbd29"/>
    <ds:schemaRef ds:uri="5fde0705-18c4-4359-8c96-ff8f797af1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333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Amanda de Cerqueira da Costa</dc:creator>
  <cp:lastModifiedBy>Daniel Vitor</cp:lastModifiedBy>
  <cp:revision>42</cp:revision>
  <dcterms:created xsi:type="dcterms:W3CDTF">2024-08-02T20:26:29Z</dcterms:created>
  <dcterms:modified xsi:type="dcterms:W3CDTF">2025-12-05T22:34:36Z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0x0101003DE36FBBD8D65B40A3B975BCDE55E9E6</vt:lpwstr>
  </property>
  <property fmtid="{D5CDD505-2E9C-101B-9397-08002B2CF9AE}" pid="3" name="MediaServiceImageTags">
    <vt:lpwstr/>
  </property>
</Properties>
</file>